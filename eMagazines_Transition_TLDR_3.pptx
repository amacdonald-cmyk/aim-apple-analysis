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Zinio Channel Rev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May-25</c:v>
                </c:pt>
                <c:pt idx="1">
                  <c:v>Jun-25</c:v>
                </c:pt>
                <c:pt idx="2">
                  <c:v>Jul-25</c:v>
                </c:pt>
                <c:pt idx="3">
                  <c:v>Aug-25</c:v>
                </c:pt>
                <c:pt idx="4">
                  <c:v>Sep-25</c:v>
                </c:pt>
                <c:pt idx="5">
                  <c:v>Oct-25</c:v>
                </c:pt>
                <c:pt idx="6">
                  <c:v>Nov-25</c:v>
                </c:pt>
                <c:pt idx="7">
                  <c:v>Dec-25</c:v>
                </c:pt>
                <c:pt idx="8">
                  <c:v>Jan-26</c:v>
                </c:pt>
                <c:pt idx="9">
                  <c:v>Feb-26</c:v>
                </c:pt>
                <c:pt idx="10">
                  <c:v>Mar-26</c:v>
                </c:pt>
                <c:pt idx="11">
                  <c:v>Apr-26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3920</c:v>
                </c:pt>
                <c:pt idx="1">
                  <c:v>3946</c:v>
                </c:pt>
                <c:pt idx="2">
                  <c:v>1575</c:v>
                </c:pt>
                <c:pt idx="3">
                  <c:v>4586</c:v>
                </c:pt>
                <c:pt idx="4">
                  <c:v>4362</c:v>
                </c:pt>
                <c:pt idx="5">
                  <c:v>4279</c:v>
                </c:pt>
                <c:pt idx="6">
                  <c:v>4080</c:v>
                </c:pt>
                <c:pt idx="7">
                  <c:v>5017</c:v>
                </c:pt>
                <c:pt idx="8">
                  <c:v>4649</c:v>
                </c:pt>
                <c:pt idx="9">
                  <c:v>4099</c:v>
                </c:pt>
                <c:pt idx="10">
                  <c:v>4998</c:v>
                </c:pt>
                <c:pt idx="11">
                  <c:v>4441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37-0449-9BB7-4D9B6C4143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iTunes (App Store)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May-25</c:v>
                </c:pt>
                <c:pt idx="1">
                  <c:v>Jun-25</c:v>
                </c:pt>
                <c:pt idx="2">
                  <c:v>Jul-25</c:v>
                </c:pt>
                <c:pt idx="3">
                  <c:v>Aug-25</c:v>
                </c:pt>
                <c:pt idx="4">
                  <c:v>Sep-25</c:v>
                </c:pt>
                <c:pt idx="5">
                  <c:v>Oct-25</c:v>
                </c:pt>
                <c:pt idx="6">
                  <c:v>Nov-25</c:v>
                </c:pt>
                <c:pt idx="7">
                  <c:v>Dec-25</c:v>
                </c:pt>
                <c:pt idx="8">
                  <c:v>Jan-26</c:v>
                </c:pt>
                <c:pt idx="9">
                  <c:v>Feb-26</c:v>
                </c:pt>
                <c:pt idx="10">
                  <c:v>Mar-26</c:v>
                </c:pt>
                <c:pt idx="11">
                  <c:v>Apr-26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7389</c:v>
                </c:pt>
                <c:pt idx="1">
                  <c:v>7074</c:v>
                </c:pt>
                <c:pt idx="2">
                  <c:v>8949</c:v>
                </c:pt>
                <c:pt idx="3">
                  <c:v>8093</c:v>
                </c:pt>
                <c:pt idx="4">
                  <c:v>8635</c:v>
                </c:pt>
                <c:pt idx="5">
                  <c:v>10414</c:v>
                </c:pt>
                <c:pt idx="6">
                  <c:v>6876</c:v>
                </c:pt>
                <c:pt idx="7">
                  <c:v>7445</c:v>
                </c:pt>
                <c:pt idx="8">
                  <c:v>11028</c:v>
                </c:pt>
                <c:pt idx="9">
                  <c:v>9625</c:v>
                </c:pt>
                <c:pt idx="10">
                  <c:v>7814</c:v>
                </c:pt>
                <c:pt idx="11">
                  <c:v>8825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37-0449-9BB7-4D9B6C4143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Zinio Channel Rev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May-25</c:v>
                </c:pt>
                <c:pt idx="1">
                  <c:v>Jun-25</c:v>
                </c:pt>
                <c:pt idx="2">
                  <c:v>Jul-25</c:v>
                </c:pt>
                <c:pt idx="3">
                  <c:v>Aug-25</c:v>
                </c:pt>
                <c:pt idx="4">
                  <c:v>Sep-25</c:v>
                </c:pt>
                <c:pt idx="5">
                  <c:v>Oct-25</c:v>
                </c:pt>
                <c:pt idx="6">
                  <c:v>Nov-25</c:v>
                </c:pt>
                <c:pt idx="7">
                  <c:v>Dec-25</c:v>
                </c:pt>
                <c:pt idx="8">
                  <c:v>Jan-26</c:v>
                </c:pt>
                <c:pt idx="9">
                  <c:v>Feb-26</c:v>
                </c:pt>
                <c:pt idx="10">
                  <c:v>Mar-26</c:v>
                </c:pt>
                <c:pt idx="11">
                  <c:v>Apr-26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3920</c:v>
                </c:pt>
                <c:pt idx="1">
                  <c:v>3946</c:v>
                </c:pt>
                <c:pt idx="2">
                  <c:v>1575</c:v>
                </c:pt>
                <c:pt idx="3">
                  <c:v>4586</c:v>
                </c:pt>
                <c:pt idx="4">
                  <c:v>4362</c:v>
                </c:pt>
                <c:pt idx="5">
                  <c:v>4279</c:v>
                </c:pt>
                <c:pt idx="6">
                  <c:v>4080</c:v>
                </c:pt>
                <c:pt idx="7">
                  <c:v>5017</c:v>
                </c:pt>
                <c:pt idx="8">
                  <c:v>4649</c:v>
                </c:pt>
                <c:pt idx="9">
                  <c:v>4099</c:v>
                </c:pt>
                <c:pt idx="10">
                  <c:v>4998</c:v>
                </c:pt>
                <c:pt idx="11">
                  <c:v>4441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D4-7F4F-AECF-A71D592754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iTunes (App Store)</c:v>
                </c:pt>
              </c:strCache>
            </c:strRef>
          </c:tx>
          <c:spPr>
            <a:solidFill>
              <a:srgbClr val="6EE7B7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May-25</c:v>
                </c:pt>
                <c:pt idx="1">
                  <c:v>Jun-25</c:v>
                </c:pt>
                <c:pt idx="2">
                  <c:v>Jul-25</c:v>
                </c:pt>
                <c:pt idx="3">
                  <c:v>Aug-25</c:v>
                </c:pt>
                <c:pt idx="4">
                  <c:v>Sep-25</c:v>
                </c:pt>
                <c:pt idx="5">
                  <c:v>Oct-25</c:v>
                </c:pt>
                <c:pt idx="6">
                  <c:v>Nov-25</c:v>
                </c:pt>
                <c:pt idx="7">
                  <c:v>Dec-25</c:v>
                </c:pt>
                <c:pt idx="8">
                  <c:v>Jan-26</c:v>
                </c:pt>
                <c:pt idx="9">
                  <c:v>Feb-26</c:v>
                </c:pt>
                <c:pt idx="10">
                  <c:v>Mar-26</c:v>
                </c:pt>
                <c:pt idx="11">
                  <c:v>Apr-26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7389</c:v>
                </c:pt>
                <c:pt idx="1">
                  <c:v>7074</c:v>
                </c:pt>
                <c:pt idx="2">
                  <c:v>8949</c:v>
                </c:pt>
                <c:pt idx="3">
                  <c:v>8093</c:v>
                </c:pt>
                <c:pt idx="4">
                  <c:v>8635</c:v>
                </c:pt>
                <c:pt idx="5">
                  <c:v>10414</c:v>
                </c:pt>
                <c:pt idx="6">
                  <c:v>6876</c:v>
                </c:pt>
                <c:pt idx="7">
                  <c:v>7445</c:v>
                </c:pt>
                <c:pt idx="8">
                  <c:v>11028</c:v>
                </c:pt>
                <c:pt idx="9">
                  <c:v>9625</c:v>
                </c:pt>
                <c:pt idx="10">
                  <c:v>7814</c:v>
                </c:pt>
                <c:pt idx="11">
                  <c:v>8825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D4-7F4F-AECF-A71D592754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Zinio Invoice</c:v>
                </c:pt>
              </c:strCache>
            </c:strRef>
          </c:tx>
          <c:spPr>
            <a:ln w="31750" cap="flat">
              <a:solidFill>
                <a:srgbClr val="B91C1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May-25</c:v>
                </c:pt>
                <c:pt idx="1">
                  <c:v>Jun-25</c:v>
                </c:pt>
                <c:pt idx="2">
                  <c:v>Jul-25</c:v>
                </c:pt>
                <c:pt idx="3">
                  <c:v>Aug-25</c:v>
                </c:pt>
                <c:pt idx="4">
                  <c:v>Sep-25</c:v>
                </c:pt>
                <c:pt idx="5">
                  <c:v>Oct-25</c:v>
                </c:pt>
                <c:pt idx="6">
                  <c:v>Nov-25</c:v>
                </c:pt>
                <c:pt idx="7">
                  <c:v>Dec-25</c:v>
                </c:pt>
                <c:pt idx="8">
                  <c:v>Jan-26</c:v>
                </c:pt>
                <c:pt idx="9">
                  <c:v>Feb-26</c:v>
                </c:pt>
                <c:pt idx="10">
                  <c:v>Mar-26</c:v>
                </c:pt>
                <c:pt idx="11">
                  <c:v>Apr-26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8229</c:v>
                </c:pt>
                <c:pt idx="1">
                  <c:v>7573</c:v>
                </c:pt>
                <c:pt idx="2">
                  <c:v>7246</c:v>
                </c:pt>
                <c:pt idx="3">
                  <c:v>7681</c:v>
                </c:pt>
                <c:pt idx="4">
                  <c:v>7971</c:v>
                </c:pt>
                <c:pt idx="5">
                  <c:v>7422</c:v>
                </c:pt>
                <c:pt idx="6">
                  <c:v>7644</c:v>
                </c:pt>
                <c:pt idx="7">
                  <c:v>7873</c:v>
                </c:pt>
                <c:pt idx="8">
                  <c:v>6516</c:v>
                </c:pt>
                <c:pt idx="9">
                  <c:v>7546</c:v>
                </c:pt>
                <c:pt idx="10">
                  <c:v>6922</c:v>
                </c:pt>
                <c:pt idx="11">
                  <c:v>7781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D4-7F4F-AECF-A71D592754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868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2C4A82">
              <a:alpha val="40000"/>
            </a:srgbClr>
          </a:solidFill>
          <a:ln w="12700">
            <a:solidFill>
              <a:srgbClr val="2C4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63840" y="-365760"/>
            <a:ext cx="2560320" cy="2560320"/>
          </a:xfrm>
          <a:prstGeom prst="ellipse">
            <a:avLst/>
          </a:prstGeom>
          <a:solidFill>
            <a:srgbClr val="3A5FA0">
              <a:alpha val="50000"/>
            </a:srgbClr>
          </a:solidFill>
          <a:ln w="12700">
            <a:solidFill>
              <a:srgbClr val="3A5F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DISTRIBUTION · VENDOR 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eMagazines Platform Transition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· Proposal analysis · Recommendation · Next 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B52"/>
          </a:solidFill>
          <a:ln w="12700">
            <a:solidFill>
              <a:srgbClr val="162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Interest Media  ·  Digital Revenue Operations  ·  June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0" y="46360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162B52"/>
          </a:solidFill>
          <a:ln w="12700">
            <a:solidFill>
              <a:srgbClr val="2C4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345643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Zinio costs </a:t>
            </a: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$90K/yr</a:t>
            </a:r>
            <a:r>
              <a:rPr lang="en-US" sz="1800" dirty="0">
                <a:solidFill>
                  <a:srgbClr val="C5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generates </a:t>
            </a: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$48K</a:t>
            </a:r>
            <a:r>
              <a:rPr lang="en-US" sz="1800" dirty="0">
                <a:solidFill>
                  <a:srgbClr val="C5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channel revenue.  iTunes generates </a:t>
            </a:r>
            <a:r>
              <a:rPr lang="en-US" sz="1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$102K/yr</a:t>
            </a:r>
            <a:r>
              <a:rPr lang="en-US" sz="1800" dirty="0">
                <a:solidFill>
                  <a:srgbClr val="C5D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doesn't need Zinio at all.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/  Current State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Zinio relationship economics — May 2025 through Apr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ZINIO 12-MO INVOICE AVG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$7,508/mo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May 2025–Apr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93268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ZINIO CHANNEL REV AVG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60320" y="1115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$3,995/mo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14996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+ Library only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8229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93268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ZINIO LOSS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1115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−$3,511/mo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14996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rev cannot cover invoice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8229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93268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ITUNES AVG (SAME PERIOD)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49440" y="1115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$8,165/mo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14996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through AIM App Store acct</a:t>
            </a:r>
            <a:endParaRPr lang="en-US" sz="9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28600" y="1965960"/>
          <a:ext cx="5394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1"/>
          <p:cNvGraphicFramePr/>
          <p:nvPr/>
        </p:nvGraphicFramePr>
        <p:xfrm>
          <a:off x="228600" y="1965960"/>
          <a:ext cx="5394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Shape 19"/>
          <p:cNvSpPr/>
          <p:nvPr/>
        </p:nvSpPr>
        <p:spPr>
          <a:xfrm>
            <a:off x="5852160" y="196596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035040" y="2057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Zinio Problem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035040" y="235915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Zinio channel revenue has </a:t>
            </a: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covered its own invoice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any month with available billing data. iTunes/App Store revenue — tracked separately through AIM's own developer account is the hidden subsidy that makes the relationship viable.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852160" y="3456432"/>
            <a:ext cx="3063240" cy="1435608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035040" y="35204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REVENUE BY CHANNEL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035040" y="37033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iTunes / App Store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8001000" y="37033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$109,529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35040" y="38770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News+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8001000" y="387705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$16,372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035040" y="4050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Readly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001000" y="405079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$20,678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035040" y="4224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EBSCO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8001000" y="4224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$17,562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035040" y="43982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Zinio (Store+Lib)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001000" y="43982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$53,546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35040" y="45720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8001000" y="4572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$28,089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/  eMagazines Proposal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they're offering · June 17, 2026 proposal · 60-day validity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60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EMAGAZINES PROVIDES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3886200" cy="658368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24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Edition Platform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Mobile-optimized + replica editions, PWA, subscriber entitlement links, branded library, reporting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3886200" cy="658368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News+ (ANF)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075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ANF production workflow and submission — currently a Zinio gap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3886200" cy="658368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624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Apps (7 titles)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825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apps for FW, FH, FG, Threads, Woodsmith, WD, Pop. Woodworking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3886200" cy="658368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374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Distribution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5753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EBSCO, B&amp;N, Amazon — confirmed; Cengage TBD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078224"/>
            <a:ext cx="3886200" cy="658368"/>
          </a:xfrm>
          <a:prstGeom prst="roundRect">
            <a:avLst>
              <a:gd name="adj" fmla="val 8333"/>
            </a:avLst>
          </a:prstGeom>
          <a:solidFill>
            <a:srgbClr val="F4F6F9"/>
          </a:solidFill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123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Programs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325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hoopla Digital ($0.25/open) + eMags Unlimited ($0.25/open) — incremental upside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822960"/>
            <a:ext cx="4297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8961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STRUCTURE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00600" y="10789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(PER BRAND/MONTH)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00600" y="12618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hosting fee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89520" y="1261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$100/brand/mo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1444752"/>
            <a:ext cx="39319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1463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hosting (≤12 issues/yr)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89520" y="1463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$300/brand/mo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1645920"/>
            <a:ext cx="39319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16642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hosting (≤6 issues/yr)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89520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$275/brand/mo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1847088"/>
            <a:ext cx="39319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1956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ISSUE (PRODUCTION)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00600" y="21396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reflow + replica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589520" y="21396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$350/issue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2322576"/>
            <a:ext cx="39319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23408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only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89520" y="2340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$125/issue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523744"/>
            <a:ext cx="39319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25420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News+ ANF coding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589520" y="2542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$200/issue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2724912"/>
            <a:ext cx="39319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00600" y="28346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SUBSCRIBER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00600" y="3017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delivery link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589520" y="3017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$0.025/delivery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3200400"/>
            <a:ext cx="39319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00600" y="33101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800600" y="34930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setup (most titles)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589520" y="3493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00600" y="3675888"/>
            <a:ext cx="39319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00600" y="36941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setup (each)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589520" y="36941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00600" y="3877056"/>
            <a:ext cx="39319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00600" y="38953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issue library (per brand)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589520" y="38953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$250–$750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00600" y="4078224"/>
            <a:ext cx="393192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617720" y="4617720"/>
            <a:ext cx="4297680" cy="41148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54880" y="4663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eMagazines already active: 4 Textalk/CDP invoices at $350–640/mo. Expansion, not cold start.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/  Analysis &amp; Recommendation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delta · iTunes revenue preserved · Apple News+ opportunity · Recommendation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605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DELTA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Zinio + Textalk invoices eliminated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0" y="10789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−$7,958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384048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3395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eMagazines platform + apps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0" y="13395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+$3,700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559052"/>
            <a:ext cx="384048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600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production delta (est.)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16002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1819656"/>
            <a:ext cx="384048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18608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delivery savings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186080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−$1,168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080260"/>
            <a:ext cx="384048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1214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conversion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21214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~flat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340864"/>
            <a:ext cx="384048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2354580"/>
            <a:ext cx="397764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3820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monthly savings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238201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~$4,900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26426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migration (excl. back issues)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91840" y="26426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$1,750–$9,250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862072"/>
            <a:ext cx="384048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29032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91840" y="29032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 months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122676"/>
            <a:ext cx="384048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8600" y="3337560"/>
            <a:ext cx="4160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4107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ITUNES REVENUE — 7 APPS (FULLY PRESERVED)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4048" y="3611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Woodworking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591056" y="3611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$2,989/mo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Homebuilding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591056" y="3913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$1,652/mo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4048" y="42153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Gardening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591056" y="42153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$1,213/mo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4048" y="45171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591056" y="4517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$937/mo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331720" y="3611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Pop. Woodworking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538728" y="3611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$555/mo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33172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Digest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538728" y="3913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$419/mo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331720" y="42153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Woodsmith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538728" y="42153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$400/mo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11480" y="4663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$8,165/mo avg (Jan–Apr 2026) · Flows through AIM App Store acct — unaffected by vendor change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17720" y="804672"/>
            <a:ext cx="4297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00600" y="8778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NEWS+ EXPANSION OPPORTUNITY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46320" y="10789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Digest (not coded)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12280" y="1078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$1,750/yr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62672" y="1078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$100–250+/mo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46320" y="12801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iss/yr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46320" y="1554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Taunton 4 (FW/FH/FG/Threads)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12280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$7,000/yr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62672" y="1554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$400–700+/mo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46320" y="17556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 iss/yr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54880" y="1993392"/>
            <a:ext cx="4023360" cy="438912"/>
          </a:xfrm>
          <a:prstGeom prst="roundRect">
            <a:avLst>
              <a:gd name="adj" fmla="val 1041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46320" y="20299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 + Taunton 4 (recommended)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812280" y="2029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$8,750/yr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662672" y="2029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$500–950+/mo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846320" y="22311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iss/yr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800600" y="24597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7 titles live today generating $16,372/yr (2025 actual)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617720" y="278892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00600" y="28803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800600" y="31272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all titles to eMagazines — digital edition fulfillment, ANF coding, iOS apps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800600" y="34655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7 iOS apps on eMagazines platform — iTunes revenue ($8,165/mo) fully preserved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800600" y="38039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Zinio and Textalk once migration is validated — single vendor, single invoice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800600" y="41422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ANF coding: WD + Taunton 4 as first tranche (~$729/mo cost, $500–950 upside)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800600" y="4480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back issue library until post-cutover — doesn't block migration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/ 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 · Risks to resolve · Timeline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834640" cy="4224528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283464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Decisions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2801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on eMagazines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1499616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expires Aug 16, 2026. Decision needed to hold pricing.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3192" y="2039112"/>
            <a:ext cx="250545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" y="208483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 expansion scope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2304288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 + Taunton 4 recommended as first tranche. Confirm titles and issue counts.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3192" y="2843784"/>
            <a:ext cx="250545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" y="2889504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Zinio exit notice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3192" y="3108960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notice period in contract before committing migration timeline.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" y="3648456"/>
            <a:ext cx="250545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36941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Cengage status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3192" y="391363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eMagazines can cover Cengage before finalizing scope.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804672"/>
            <a:ext cx="2834640" cy="4224528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804672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987552"/>
            <a:ext cx="2834640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Workstreams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64992" y="12801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entitlement continuity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64992" y="1499616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handoff workflow for active Zinio subscribers → eMagazines delivery. Omeda integration required.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64992" y="2039112"/>
            <a:ext cx="250545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64992" y="208483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transition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64992" y="2304288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apps · $1,750 one-time · Subscriber restore-purchases on launch · Coordinate with Phil Graham on App Store access.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64992" y="2843784"/>
            <a:ext cx="250545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64992" y="2889504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 onboarding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64992" y="3108960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eMagazines with PDF assets for new issue ANF coding. Define ongoing submission workflow.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64992" y="3648456"/>
            <a:ext cx="250545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64992" y="36941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 period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64992" y="391363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Zinio and eMagazines briefly to validate entitlement delivery before full cutover.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72200" y="804672"/>
            <a:ext cx="2834640" cy="4224528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72200" y="804672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72200" y="987552"/>
            <a:ext cx="283464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0936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/ Risks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36792" y="12801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Cengage contract verification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36792" y="1499616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must confirm coverage before external sharing.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36792" y="2039112"/>
            <a:ext cx="250545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36792" y="208483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issue library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36792" y="2304288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$11K–$14K one-time; deferrable. Doesn't block core migration.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36792" y="2843784"/>
            <a:ext cx="250545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36792" y="2889504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 rev uplifts unproven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36792" y="3108960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 — estimates only; no direct comparables for new titles. Writer's Digest is lowest-risk test.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36792" y="3648456"/>
            <a:ext cx="2505456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36792" y="36941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eMagazines app pricing premium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36792" y="391363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$25–125/mo more than Zinio Pro for app hosting; offset by platform fee savings.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48554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valid through ~Aug 16, 2026  ·  eMagazines proposal dated June 17, 2026  ·  AIM Digital Revenue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/  Data Sources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sourced from internal AIM reporting files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97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8961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Zinio Invoices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" y="11064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zinioAllBillsPage.csv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93192" y="128016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 – APR 2026 (12 MONTHS)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93192" y="1435608"/>
            <a:ext cx="397764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14813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invoice totals from AIM accounting system. Used for Zinio cost baseline and 12-month average ($7,508/mo). Jan–Apr 2025 invoice data not available in this extract.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4297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" y="23134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Subscriptions Revenue — Monthly Cumulative Files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" y="25237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Digital_Subs_Revenue_Jan–[Month]_[Year].xlsx (10 files)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3192" y="269748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– APR 2026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93192" y="2852928"/>
            <a:ext cx="397764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" y="28986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YTD revenue by partner (Apple, AppleNews, Zinio, B&amp;N, EBSCO, Google, Readly, Magzter, PressReader, Cengage). Individual months extracted by differencing adjacent cumulative files. Source for all channel revenue figures including Zinio Store+Library and Apple App Store totals.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3639312"/>
            <a:ext cx="4297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37307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 Revenue — Jan–Apr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" y="39410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Apr26_Digital_Subs_Revenue_Jan__Apr_2026.xlsx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93192" y="411480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APR 2026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93192" y="4270248"/>
            <a:ext cx="397764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431596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Per-title iTunes/App Store earnings (Apple sheet). Used for 7-app revenue breakdown: FW, FH, FG, Threads, Pop. Woodworking, Writer's Digest, Woodsmith. Monthly avg $8,165/mo across 4 months.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09160" y="804672"/>
            <a:ext cx="4297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73752" y="8961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News+ Revenue — Jan–Apr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73752" y="11064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Apr26_Digital_Subs_Revenue_Jan__Apr_2026.xlsx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73752" y="128016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APR 2026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873752" y="1435608"/>
            <a:ext cx="397764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73752" y="14813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Per-title Apple News+ earnings (AppleNews sheet). 7 titles live: Popular Woodworking, Woodsmith, Garden Gate, Cuisine at Home, Old House Journal, Log &amp; Timber Home Living, Horticulture. 2025 full-year total ($16,372) from Dec-25 cumulative file; per-title 2025 breakout not available.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221992"/>
            <a:ext cx="4297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73752" y="23134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Zinio Publisher Services Agreement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73752" y="25237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Publisher_Services_Agreement_v5_1__Active_Interest_Media_v4_03062023_signed.pdf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73752" y="269748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MAR 2023 · AMENDED APR 2024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73752" y="2852928"/>
            <a:ext cx="397764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73752" y="28986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basis for Zinio fee structure: Appendix A conversion fees ($60–$150/issue by title), fulfillment delivery fees ($0.05–$0.10/delivery), Schedule B Pro app fees ($200–$400/title/mo). Amendment CAO Apr 25, 2024 on file.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3639312"/>
            <a:ext cx="42976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73752" y="37307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eMagazines Digital Solutions Proposal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73752" y="39410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eMagazines_Digital_Solutions_Proposal_AIM_20260610.pdf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73752" y="411480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JUNE 17, 2026 · VALID 60 DAYS (EXPIRES ~AUG 16, 2026)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73752" y="4270248"/>
            <a:ext cx="3977640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73752" y="431596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all eMagazines pricing: platform fee $100/brand/mo, iOS app hosting $275–300/mo, issue production $125–350, ANF coding $200/issue, entitlement delivery $0.025/link, app setup $250/app one-time, back issue library $250–750/brand.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48554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titles (Sail, Soundings, PassageMaker, Yachts International, Anglers Journal, Power &amp; Motoryacht) excluded from all figures.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4704</TotalTime>
  <Words>1521</Words>
  <Application>Microsoft Macintosh PowerPoint</Application>
  <PresentationFormat>On-screen Show (16:9)</PresentationFormat>
  <Paragraphs>193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DM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eMagazines Platform Transition — AIM Digital Distribution</dc:title>
  <dc:subject>PptxGenJS Presentation</dc:subject>
  <dc:creator>PptxGenJS</dc:creator>
  <cp:lastModifiedBy>Ashley MacDonald</cp:lastModifiedBy>
  <cp:revision>3</cp:revision>
  <dcterms:created xsi:type="dcterms:W3CDTF">2026-06-12T10:58:38Z</dcterms:created>
  <dcterms:modified xsi:type="dcterms:W3CDTF">2026-06-15T17:25:56Z</dcterms:modified>
</cp:coreProperties>
</file>